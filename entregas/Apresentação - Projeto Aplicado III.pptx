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9"/>
  </p:notesMasterIdLst>
  <p:sldIdLst>
    <p:sldId id="257" r:id="rId2"/>
    <p:sldId id="259" r:id="rId3"/>
    <p:sldId id="271" r:id="rId4"/>
    <p:sldId id="272" r:id="rId5"/>
    <p:sldId id="273" r:id="rId6"/>
    <p:sldId id="274" r:id="rId7"/>
    <p:sldId id="27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835" autoAdjust="0"/>
  </p:normalViewPr>
  <p:slideViewPr>
    <p:cSldViewPr snapToGrid="0">
      <p:cViewPr varScale="1">
        <p:scale>
          <a:sx n="95" d="100"/>
          <a:sy n="95" d="100"/>
        </p:scale>
        <p:origin x="11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6396D-2CF4-4299-81D3-325F80065082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F06BF-0110-49F1-8F5A-AD22CC738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37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"Olá. Este é o nosso Projeto Aplicado III: </a:t>
            </a:r>
            <a:r>
              <a:rPr lang="pt-BR" b="1" dirty="0" err="1"/>
              <a:t>SmartCart</a:t>
            </a:r>
            <a:r>
              <a:rPr lang="pt-BR" dirty="0"/>
              <a:t>, um Sistema Inteligente de Recomendações para o Varejo Online."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F06BF-0110-49F1-8F5A-AD22CC7384A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692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"O comércio eletrônico enfrenta um desafio: a </a:t>
            </a:r>
            <a:r>
              <a:rPr lang="pt-BR" b="1" dirty="0"/>
              <a:t>sobrecarga de escolha</a:t>
            </a:r>
            <a:r>
              <a:rPr lang="pt-BR" dirty="0"/>
              <a:t>. Clientes perdidos em vastos catálogos tendem a abandonar a compra. Nosso objetivo foi claro: desenvolver um sistema baseado em </a:t>
            </a:r>
            <a:r>
              <a:rPr lang="pt-BR" b="1" dirty="0"/>
              <a:t>filtragem colaborativa</a:t>
            </a:r>
            <a:r>
              <a:rPr lang="pt-BR" dirty="0"/>
              <a:t> capaz de prever itens de interesse, aumentando a satisfação do cliente e as vendas. Para isso, utilizamos o </a:t>
            </a:r>
            <a:r>
              <a:rPr lang="pt-BR" b="1" dirty="0" err="1"/>
              <a:t>Dataset</a:t>
            </a:r>
            <a:r>
              <a:rPr lang="pt-BR" b="1" dirty="0"/>
              <a:t> Online </a:t>
            </a:r>
            <a:r>
              <a:rPr lang="pt-BR" b="1" dirty="0" err="1"/>
              <a:t>Retail</a:t>
            </a:r>
            <a:r>
              <a:rPr lang="pt-BR" dirty="0"/>
              <a:t> da UC Irvine."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F06BF-0110-49F1-8F5A-AD22CC7384A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322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D43F-A06A-313B-4325-379FABD7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C6C650-0F92-8478-B01F-C571035AB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AC13BF-2FDE-53BC-B063-00ACCB30E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"Nossa metodologia inicial utilizou o algoritmo </a:t>
            </a:r>
            <a:r>
              <a:rPr lang="pt-BR" b="1" dirty="0"/>
              <a:t>SVD</a:t>
            </a:r>
            <a:r>
              <a:rPr lang="pt-BR" dirty="0"/>
              <a:t> da biblioteca </a:t>
            </a:r>
            <a:r>
              <a:rPr lang="pt-BR" dirty="0" err="1"/>
              <a:t>Surprise</a:t>
            </a:r>
            <a:r>
              <a:rPr lang="pt-BR" dirty="0"/>
              <a:t> para fatoração de matriz. O primeiro grande obstáculo veio da análise exploratória: a variável-alvo, a </a:t>
            </a:r>
            <a:r>
              <a:rPr lang="pt-BR" b="1" dirty="0" err="1"/>
              <a:t>Quantity</a:t>
            </a:r>
            <a:r>
              <a:rPr lang="pt-BR" dirty="0"/>
              <a:t> (ou quantidade comprada), estava severamente distorcida por </a:t>
            </a:r>
            <a:r>
              <a:rPr lang="pt-BR" b="1" dirty="0"/>
              <a:t>outliers extremos</a:t>
            </a:r>
            <a:r>
              <a:rPr lang="pt-BR" dirty="0"/>
              <a:t>. Enquanto a maioria das compras era de 3 itens, o valor máximo chegava a 80.995."</a:t>
            </a:r>
          </a:p>
          <a:p>
            <a:r>
              <a:rPr lang="pt-BR" dirty="0"/>
              <a:t>"Ao treinar o modelo com esses dados brutos, o resultado foi uma </a:t>
            </a:r>
            <a:r>
              <a:rPr lang="pt-BR" b="1" dirty="0"/>
              <a:t>falha completa</a:t>
            </a:r>
            <a:r>
              <a:rPr lang="pt-BR" dirty="0"/>
              <a:t>. Nosso </a:t>
            </a:r>
            <a:r>
              <a:rPr lang="pt-BR" b="1" dirty="0"/>
              <a:t>RMSE</a:t>
            </a:r>
            <a:r>
              <a:rPr lang="pt-BR" dirty="0"/>
              <a:t> inicial foi de mais de </a:t>
            </a:r>
            <a:r>
              <a:rPr lang="pt-BR" b="1" dirty="0"/>
              <a:t>80 mil</a:t>
            </a:r>
            <a:r>
              <a:rPr lang="pt-BR" dirty="0"/>
              <a:t>, indicando que o modelo estava sendo puxado por um único </a:t>
            </a:r>
            <a:r>
              <a:rPr lang="pt-BR" i="1" dirty="0"/>
              <a:t>outlier</a:t>
            </a:r>
            <a:r>
              <a:rPr lang="pt-BR" dirty="0"/>
              <a:t> e era inútil para prever o comportamento normal."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F5F06E-17CC-03CF-7D9F-0E7B648C9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F06BF-0110-49F1-8F5A-AD22CC7384A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093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F4513-5495-E327-DA5B-B0AE5D1C1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BA2D84-8081-D9DA-1F6A-A2DEAEA8A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268B88-E2D6-3234-3C13-D7F18BD08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"O diagnóstico exigiu uma reavaliação metodológica profunda. A solução foi a </a:t>
            </a:r>
            <a:r>
              <a:rPr lang="pt-BR" b="1" dirty="0"/>
              <a:t>Engenharia de Features</a:t>
            </a:r>
            <a:r>
              <a:rPr lang="pt-BR" dirty="0"/>
              <a:t>. Aplicamos a </a:t>
            </a:r>
            <a:r>
              <a:rPr lang="pt-BR" b="1" dirty="0"/>
              <a:t>Transformação Logarítmica</a:t>
            </a:r>
            <a:r>
              <a:rPr lang="pt-BR" dirty="0"/>
              <a:t> — especificamente o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numpy.log1p</a:t>
            </a:r>
            <a:r>
              <a:rPr lang="pt-BR" dirty="0"/>
              <a:t> — na coluna </a:t>
            </a:r>
            <a:r>
              <a:rPr lang="pt-BR" dirty="0" err="1"/>
              <a:t>Quantity</a:t>
            </a:r>
            <a:r>
              <a:rPr lang="pt-BR" dirty="0"/>
              <a:t>."</a:t>
            </a:r>
          </a:p>
          <a:p>
            <a:r>
              <a:rPr lang="pt-BR" dirty="0"/>
              <a:t>"Essa técnica crucial </a:t>
            </a:r>
            <a:r>
              <a:rPr lang="pt-BR" b="1" dirty="0"/>
              <a:t>comprimiu a escala dos dados</a:t>
            </a:r>
            <a:r>
              <a:rPr lang="pt-BR" dirty="0"/>
              <a:t>, reduzindo o impacto dos </a:t>
            </a:r>
            <a:r>
              <a:rPr lang="pt-BR" i="1" dirty="0"/>
              <a:t>outliers</a:t>
            </a:r>
            <a:r>
              <a:rPr lang="pt-BR" dirty="0"/>
              <a:t>. Ao treinar o SVD com este novo </a:t>
            </a:r>
            <a:r>
              <a:rPr lang="pt-BR" i="1" dirty="0"/>
              <a:t>rating</a:t>
            </a:r>
            <a:r>
              <a:rPr lang="pt-BR" dirty="0"/>
              <a:t> logarítmico, estabilizamos o modelo, transformando radicalmente o nosso desempenho."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F9D199-5AD1-AFC5-07F9-79A9AC61B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F06BF-0110-49F1-8F5A-AD22CC7384A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164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C7C0-9884-213C-EADB-7C83965FF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463561D-7B7B-E00A-8256-BF4E2A9B8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DD75FA-5853-12DA-682D-86C672455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"O resultado da otimização foi um sucesso. O </a:t>
            </a:r>
            <a:r>
              <a:rPr lang="pt-BR" b="1" dirty="0"/>
              <a:t>RMSE</a:t>
            </a:r>
            <a:r>
              <a:rPr lang="pt-BR" dirty="0"/>
              <a:t> final, na escala logarítmica, foi de apenas </a:t>
            </a:r>
            <a:r>
              <a:rPr lang="pt-BR" b="1" dirty="0"/>
              <a:t>0.5185</a:t>
            </a:r>
            <a:r>
              <a:rPr lang="pt-BR" dirty="0"/>
              <a:t>. Isso atesta a alta precisão do </a:t>
            </a:r>
            <a:r>
              <a:rPr lang="pt-BR" dirty="0" err="1"/>
              <a:t>SmartCart</a:t>
            </a:r>
            <a:r>
              <a:rPr lang="pt-BR" dirty="0"/>
              <a:t>."</a:t>
            </a:r>
          </a:p>
          <a:p>
            <a:r>
              <a:rPr lang="pt-BR" dirty="0"/>
              <a:t>"Para provar a aplicabilidade no negócio, revertemos a previsão para a escala real: para um cliente e item específicos, o modelo previu uma compra de </a:t>
            </a:r>
            <a:r>
              <a:rPr lang="pt-BR" b="1" dirty="0"/>
              <a:t>7 unidades</a:t>
            </a:r>
            <a:r>
              <a:rPr lang="pt-BR" dirty="0"/>
              <a:t>. Isso confirma que o sistema não só é estatisticamente correto, mas gera </a:t>
            </a:r>
            <a:r>
              <a:rPr lang="pt-BR" b="1" dirty="0"/>
              <a:t>previsões realistas e acionáveis</a:t>
            </a:r>
            <a:r>
              <a:rPr lang="pt-BR" dirty="0"/>
              <a:t> para o varejo."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9C8D57-C1D3-1AAA-2CAA-9832991A0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F06BF-0110-49F1-8F5A-AD22CC7384A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355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CF3A-470F-054B-23A3-9394AE5C5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AC52326-0183-FBD7-8F0E-B9A67EE60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E9992C-22BC-90FF-7566-A52D0FF76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"Em conclusão, o </a:t>
            </a:r>
            <a:r>
              <a:rPr lang="pt-BR" dirty="0" err="1"/>
              <a:t>SmartCart</a:t>
            </a:r>
            <a:r>
              <a:rPr lang="pt-BR" dirty="0"/>
              <a:t> cumpriu seu objetivo, demonstrando que a correção de </a:t>
            </a:r>
            <a:r>
              <a:rPr lang="pt-BR" i="1" dirty="0"/>
              <a:t>outliers</a:t>
            </a:r>
            <a:r>
              <a:rPr lang="pt-BR" dirty="0"/>
              <a:t> via transformação logarítmica é vital para a precisão de sistemas de recomendação em e-commerce. Como objetivo extensionista, ele se torna uma </a:t>
            </a:r>
            <a:r>
              <a:rPr lang="pt-BR" b="1" dirty="0"/>
              <a:t>solução acessível para </a:t>
            </a:r>
            <a:r>
              <a:rPr lang="pt-BR" b="1" dirty="0" err="1"/>
              <a:t>PMEs</a:t>
            </a:r>
            <a:r>
              <a:rPr lang="pt-BR" dirty="0"/>
              <a:t> de varejo."</a:t>
            </a:r>
          </a:p>
          <a:p>
            <a:r>
              <a:rPr lang="pt-BR" dirty="0"/>
              <a:t>"Para trabalhos futuros, sugerimos aprimoramentos técnicos, como a migração para o </a:t>
            </a:r>
            <a:r>
              <a:rPr lang="pt-BR" b="1" dirty="0"/>
              <a:t>SVD++</a:t>
            </a:r>
            <a:r>
              <a:rPr lang="pt-BR" dirty="0"/>
              <a:t> e a avaliação da qualidade de ranqueamento das sugestões com métricas como o </a:t>
            </a:r>
            <a:r>
              <a:rPr lang="pt-BR" b="1" dirty="0"/>
              <a:t>NDCG</a:t>
            </a:r>
            <a:r>
              <a:rPr lang="pt-BR" dirty="0"/>
              <a:t>."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2AEF23-4E8B-E731-2833-CEBE48109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F06BF-0110-49F1-8F5A-AD22CC7384A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119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"Agradecemos a atenção. Estamos disponíveis em caso de dúvidas."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F06BF-0110-49F1-8F5A-AD22CC7384A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21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9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0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0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2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60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15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4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5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51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5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75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0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7" Type="http://schemas.openxmlformats.org/officeDocument/2006/relationships/hyperlink" Target="https://github.com/maikisoares00/Projeto_Aplicado_III_RetailWise/" TargetMode="Externa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Tela de fundo abstrata triangular">
            <a:extLst>
              <a:ext uri="{FF2B5EF4-FFF2-40B4-BE49-F238E27FC236}">
                <a16:creationId xmlns:a16="http://schemas.microsoft.com/office/drawing/2014/main" id="{DE3C1519-B18E-D4E5-A3F1-2BB21EA509D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5000"/>
          </a:blip>
          <a:srcRect t="15730"/>
          <a:stretch/>
        </p:blipFill>
        <p:spPr>
          <a:xfrm>
            <a:off x="0" y="11"/>
            <a:ext cx="12191979" cy="6857989"/>
          </a:xfrm>
          <a:prstGeom prst="rect">
            <a:avLst/>
          </a:prstGeom>
        </p:spPr>
      </p:pic>
      <p:sp>
        <p:nvSpPr>
          <p:cNvPr id="9" name="Rectangle 12">
            <a:extLst>
              <a:ext uri="{FF2B5EF4-FFF2-40B4-BE49-F238E27FC236}">
                <a16:creationId xmlns:a16="http://schemas.microsoft.com/office/drawing/2014/main" id="{9FA98EAA-A866-4C95-A2A8-44E46FBA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56000">
                <a:schemeClr val="tx1">
                  <a:alpha val="40000"/>
                </a:schemeClr>
              </a:gs>
              <a:gs pos="100000">
                <a:schemeClr val="tx1">
                  <a:alpha val="8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03121" y="1171867"/>
            <a:ext cx="7985759" cy="2327926"/>
          </a:xfrm>
        </p:spPr>
        <p:txBody>
          <a:bodyPr anchor="b">
            <a:normAutofit/>
          </a:bodyPr>
          <a:lstStyle/>
          <a:p>
            <a:pPr algn="ctr"/>
            <a:r>
              <a:rPr lang="pt-BR" sz="4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Projeto </a:t>
            </a:r>
            <a:r>
              <a:rPr lang="pt-BR" sz="48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SmartCart</a:t>
            </a:r>
            <a:endParaRPr lang="de-DE" sz="48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40550" y="3499793"/>
            <a:ext cx="8510877" cy="1505157"/>
          </a:xfrm>
        </p:spPr>
        <p:txBody>
          <a:bodyPr anchor="t">
            <a:normAutofit/>
          </a:bodyPr>
          <a:lstStyle/>
          <a:p>
            <a:pPr algn="ctr"/>
            <a:r>
              <a:rPr lang="pt-BR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Um Sistema Inteligente de Recomendações para o Varejo Online</a:t>
            </a:r>
            <a:endParaRPr lang="de-DE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622EBB-D631-7154-1342-E22A402E5B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388" y="388485"/>
            <a:ext cx="914400" cy="914400"/>
          </a:xfrm>
          <a:prstGeom prst="rect">
            <a:avLst/>
          </a:prstGeom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2CF5357A-1611-0E58-C842-D1BA26184B11}"/>
              </a:ext>
            </a:extLst>
          </p:cNvPr>
          <p:cNvSpPr txBox="1">
            <a:spLocks/>
          </p:cNvSpPr>
          <p:nvPr/>
        </p:nvSpPr>
        <p:spPr>
          <a:xfrm>
            <a:off x="7203183" y="6035228"/>
            <a:ext cx="4702306" cy="6917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Maiki</a:t>
            </a:r>
            <a:r>
              <a:rPr lang="pt-BR" sz="1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Soares &amp; Vanessa Cordeiro</a:t>
            </a:r>
            <a:endParaRPr lang="de-DE" sz="16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32" name="Áudio 31">
            <a:hlinkClick r:id="" action="ppaction://media"/>
            <a:extLst>
              <a:ext uri="{FF2B5EF4-FFF2-40B4-BE49-F238E27FC236}">
                <a16:creationId xmlns:a16="http://schemas.microsoft.com/office/drawing/2014/main" id="{88D59BF8-33D3-74FB-27E4-CFBDB015DC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91244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57"/>
    </mc:Choice>
    <mc:Fallback>
      <p:transition spd="slow" advTm="89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Tela de fundo abstrata triangular">
            <a:extLst>
              <a:ext uri="{FF2B5EF4-FFF2-40B4-BE49-F238E27FC236}">
                <a16:creationId xmlns:a16="http://schemas.microsoft.com/office/drawing/2014/main" id="{DE3C1519-B18E-D4E5-A3F1-2BB21EA509D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57" r="13270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3" name="Rectangle 2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7980" y="777444"/>
            <a:ext cx="4615227" cy="645916"/>
          </a:xfrm>
        </p:spPr>
        <p:txBody>
          <a:bodyPr anchor="b">
            <a:noAutofit/>
          </a:bodyPr>
          <a:lstStyle/>
          <a:p>
            <a:r>
              <a:rPr lang="pt-BR" sz="2400" b="1" dirty="0"/>
              <a:t>O Problema e o Objetivo</a:t>
            </a:r>
            <a:endParaRPr lang="de-DE" sz="2400" b="1" dirty="0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5E70D884-DA8C-0B32-7559-CC15CC48CC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388" y="388485"/>
            <a:ext cx="914400" cy="9144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8C82AC22-9BA7-5D66-B3DF-549B1F05C6BE}"/>
              </a:ext>
            </a:extLst>
          </p:cNvPr>
          <p:cNvSpPr txBox="1">
            <a:spLocks/>
          </p:cNvSpPr>
          <p:nvPr/>
        </p:nvSpPr>
        <p:spPr>
          <a:xfrm>
            <a:off x="790426" y="1607992"/>
            <a:ext cx="3289946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Problema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40B1FE5-5D9F-1E91-EADA-66E6EAC60A2C}"/>
              </a:ext>
            </a:extLst>
          </p:cNvPr>
          <p:cNvSpPr txBox="1">
            <a:spLocks/>
          </p:cNvSpPr>
          <p:nvPr/>
        </p:nvSpPr>
        <p:spPr>
          <a:xfrm>
            <a:off x="512753" y="2253908"/>
            <a:ext cx="4023359" cy="9578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dirty="0"/>
              <a:t>SOBRECARGA DE ESCOLHA: O vasto catálogo de produtos confunde o consumidor e reduz as taxas de conversão.</a:t>
            </a:r>
            <a:endParaRPr lang="de-DE" sz="16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D3FBE28-179F-B5EE-2E54-2C202AAE4231}"/>
              </a:ext>
            </a:extLst>
          </p:cNvPr>
          <p:cNvSpPr txBox="1">
            <a:spLocks/>
          </p:cNvSpPr>
          <p:nvPr/>
        </p:nvSpPr>
        <p:spPr>
          <a:xfrm>
            <a:off x="787502" y="3160159"/>
            <a:ext cx="4448731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Objetivo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77981" y="3814283"/>
            <a:ext cx="4023359" cy="1125087"/>
          </a:xfrm>
          <a:solidFill>
            <a:srgbClr val="FFFFFF"/>
          </a:solidFill>
          <a:ln>
            <a:noFill/>
          </a:ln>
        </p:spPr>
        <p:txBody>
          <a:bodyPr>
            <a:normAutofit lnSpcReduction="10000"/>
          </a:bodyPr>
          <a:lstStyle/>
          <a:p>
            <a:pPr algn="just"/>
            <a:r>
              <a:rPr lang="pt-BR" sz="1600" dirty="0"/>
              <a:t>SOLUÇÃO SMARTCART: Implementar um sistema de Filtragem Colaborativa (SVD) que preveja e sugira produtos de forma personalizada.</a:t>
            </a:r>
            <a:endParaRPr lang="de-DE" sz="1600" dirty="0"/>
          </a:p>
        </p:txBody>
      </p:sp>
      <p:pic>
        <p:nvPicPr>
          <p:cNvPr id="8" name="Picture 2" descr="Exemplo de um sistema de recomendação com filtragem colaborativa | Download  Scientific Diagram">
            <a:extLst>
              <a:ext uri="{FF2B5EF4-FFF2-40B4-BE49-F238E27FC236}">
                <a16:creationId xmlns:a16="http://schemas.microsoft.com/office/drawing/2014/main" id="{006E4219-31F5-DD72-785B-3B98FEA0E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50" y="2344692"/>
            <a:ext cx="5619738" cy="227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488FBD4D-BB60-398A-0F57-F6A200480816}"/>
              </a:ext>
            </a:extLst>
          </p:cNvPr>
          <p:cNvSpPr txBox="1">
            <a:spLocks/>
          </p:cNvSpPr>
          <p:nvPr/>
        </p:nvSpPr>
        <p:spPr>
          <a:xfrm>
            <a:off x="787501" y="4896022"/>
            <a:ext cx="4448731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Dados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7F03317-1552-A9D1-1422-8DDE5E767BA3}"/>
              </a:ext>
            </a:extLst>
          </p:cNvPr>
          <p:cNvSpPr txBox="1">
            <a:spLocks/>
          </p:cNvSpPr>
          <p:nvPr/>
        </p:nvSpPr>
        <p:spPr>
          <a:xfrm>
            <a:off x="423719" y="5602638"/>
            <a:ext cx="4023359" cy="11250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dirty="0" err="1"/>
              <a:t>Dataset</a:t>
            </a:r>
            <a:r>
              <a:rPr lang="pt-BR" sz="1600" dirty="0"/>
              <a:t>: Online </a:t>
            </a:r>
            <a:r>
              <a:rPr lang="pt-BR" sz="1600" dirty="0" err="1"/>
              <a:t>Retail</a:t>
            </a:r>
            <a:r>
              <a:rPr lang="pt-BR" sz="1600" dirty="0"/>
              <a:t> (UC Irvine)</a:t>
            </a:r>
            <a:endParaRPr lang="de-DE" sz="1600" dirty="0"/>
          </a:p>
        </p:txBody>
      </p:sp>
      <p:pic>
        <p:nvPicPr>
          <p:cNvPr id="21" name="Áudio 20">
            <a:hlinkClick r:id="" action="ppaction://media"/>
            <a:extLst>
              <a:ext uri="{FF2B5EF4-FFF2-40B4-BE49-F238E27FC236}">
                <a16:creationId xmlns:a16="http://schemas.microsoft.com/office/drawing/2014/main" id="{DB43F5F7-E124-F26F-9061-21CC00B46D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90455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393"/>
    </mc:Choice>
    <mc:Fallback>
      <p:transition spd="slow" advTm="303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80D97-216A-D059-EF5F-4A00E113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4">
            <a:extLst>
              <a:ext uri="{FF2B5EF4-FFF2-40B4-BE49-F238E27FC236}">
                <a16:creationId xmlns:a16="http://schemas.microsoft.com/office/drawing/2014/main" id="{B77E253C-F0E8-0F2D-B9DB-C520F2B0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Tela de fundo abstrata triangular">
            <a:extLst>
              <a:ext uri="{FF2B5EF4-FFF2-40B4-BE49-F238E27FC236}">
                <a16:creationId xmlns:a16="http://schemas.microsoft.com/office/drawing/2014/main" id="{B903BCAC-BF3B-147D-8D29-C8823567AD9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57" r="13270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3" name="Rectangle 26">
            <a:extLst>
              <a:ext uri="{FF2B5EF4-FFF2-40B4-BE49-F238E27FC236}">
                <a16:creationId xmlns:a16="http://schemas.microsoft.com/office/drawing/2014/main" id="{4624F2C5-F69B-D25E-7BFB-1F4FC6E3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FA9760-EDEC-45C2-8C54-9A4731EE1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777444"/>
            <a:ext cx="5529628" cy="645916"/>
          </a:xfrm>
        </p:spPr>
        <p:txBody>
          <a:bodyPr anchor="b">
            <a:noAutofit/>
          </a:bodyPr>
          <a:lstStyle/>
          <a:p>
            <a:r>
              <a:rPr lang="pt-BR" sz="2400" b="1" dirty="0"/>
              <a:t>A Metodologia e a Crise dos Dados</a:t>
            </a:r>
            <a:endParaRPr lang="de-DE" sz="2400" b="1" dirty="0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7CF9A368-149D-5A5A-0EA1-6E5E89356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89D0F8-BB0C-1C79-8AE3-57BD960A3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7AAF4E8B-1368-8DB8-1F2B-B232C488D3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388" y="388485"/>
            <a:ext cx="914400" cy="9144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C343099-7AD5-AFF7-D8A7-842A94E0C79E}"/>
              </a:ext>
            </a:extLst>
          </p:cNvPr>
          <p:cNvSpPr txBox="1">
            <a:spLocks/>
          </p:cNvSpPr>
          <p:nvPr/>
        </p:nvSpPr>
        <p:spPr>
          <a:xfrm>
            <a:off x="790426" y="1607992"/>
            <a:ext cx="3289946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Processo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0687845-8656-9D9E-09CE-7374500C9401}"/>
              </a:ext>
            </a:extLst>
          </p:cNvPr>
          <p:cNvSpPr txBox="1">
            <a:spLocks/>
          </p:cNvSpPr>
          <p:nvPr/>
        </p:nvSpPr>
        <p:spPr>
          <a:xfrm>
            <a:off x="512753" y="2253908"/>
            <a:ext cx="4023359" cy="957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dirty="0"/>
              <a:t>O modelo foi treinado com o algoritmo </a:t>
            </a:r>
            <a:r>
              <a:rPr lang="pt-BR" sz="1600" b="1" dirty="0"/>
              <a:t>SVD (Singular </a:t>
            </a:r>
            <a:r>
              <a:rPr lang="pt-BR" sz="1600" b="1" dirty="0" err="1"/>
              <a:t>Value</a:t>
            </a:r>
            <a:r>
              <a:rPr lang="pt-BR" sz="1600" b="1" dirty="0"/>
              <a:t> </a:t>
            </a:r>
            <a:r>
              <a:rPr lang="pt-BR" sz="1600" b="1" dirty="0" err="1"/>
              <a:t>Decomposition</a:t>
            </a:r>
            <a:r>
              <a:rPr lang="pt-BR" sz="1600" b="1" dirty="0"/>
              <a:t>)</a:t>
            </a:r>
            <a:r>
              <a:rPr lang="pt-BR" sz="1600" dirty="0"/>
              <a:t> da biblioteca Python </a:t>
            </a:r>
            <a:r>
              <a:rPr lang="pt-BR" sz="1600" b="1" dirty="0" err="1"/>
              <a:t>Surprise</a:t>
            </a:r>
            <a:r>
              <a:rPr lang="pt-BR" sz="1600" dirty="0"/>
              <a:t>.</a:t>
            </a:r>
            <a:endParaRPr lang="de-DE" sz="16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0F14E84-B515-1F37-915B-4B822765DEA3}"/>
              </a:ext>
            </a:extLst>
          </p:cNvPr>
          <p:cNvSpPr txBox="1">
            <a:spLocks/>
          </p:cNvSpPr>
          <p:nvPr/>
        </p:nvSpPr>
        <p:spPr>
          <a:xfrm>
            <a:off x="787502" y="3105295"/>
            <a:ext cx="4448731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Diagnóstico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CE34E1-5639-C8E0-FEC2-CB85DE10C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3759419"/>
            <a:ext cx="4023359" cy="1125087"/>
          </a:xfrm>
          <a:solidFill>
            <a:srgbClr val="FFFFFF"/>
          </a:solidFill>
          <a:ln>
            <a:noFill/>
          </a:ln>
        </p:spPr>
        <p:txBody>
          <a:bodyPr>
            <a:normAutofit lnSpcReduction="10000"/>
          </a:bodyPr>
          <a:lstStyle/>
          <a:p>
            <a:pPr algn="just"/>
            <a:r>
              <a:rPr lang="pt-BR" sz="1600" dirty="0"/>
              <a:t>A Análise Exploratória (EDA) identificou a </a:t>
            </a:r>
            <a:r>
              <a:rPr lang="pt-BR" sz="1600" b="1" dirty="0" err="1"/>
              <a:t>Quantity</a:t>
            </a:r>
            <a:r>
              <a:rPr lang="pt-BR" sz="1600" dirty="0"/>
              <a:t> (variável-alvo) com </a:t>
            </a:r>
            <a:r>
              <a:rPr lang="pt-BR" sz="1600" b="1" dirty="0"/>
              <a:t>outliers extremos</a:t>
            </a:r>
            <a:r>
              <a:rPr lang="pt-BR" sz="1600" dirty="0"/>
              <a:t>: a mediana era 3, mas o valor máximo era </a:t>
            </a:r>
            <a:r>
              <a:rPr lang="pt-BR" sz="1600" b="1" dirty="0"/>
              <a:t>80.995</a:t>
            </a:r>
            <a:r>
              <a:rPr lang="pt-BR" sz="1600" dirty="0"/>
              <a:t>.</a:t>
            </a:r>
            <a:endParaRPr lang="de-DE" sz="1600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C7F37F20-A989-E946-77A5-8C4C96280D29}"/>
              </a:ext>
            </a:extLst>
          </p:cNvPr>
          <p:cNvSpPr txBox="1">
            <a:spLocks/>
          </p:cNvSpPr>
          <p:nvPr/>
        </p:nvSpPr>
        <p:spPr>
          <a:xfrm>
            <a:off x="787501" y="4772743"/>
            <a:ext cx="4448731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Resultado Inicial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E91B051E-D1AE-6075-695C-EA3BE8227809}"/>
              </a:ext>
            </a:extLst>
          </p:cNvPr>
          <p:cNvSpPr txBox="1">
            <a:spLocks/>
          </p:cNvSpPr>
          <p:nvPr/>
        </p:nvSpPr>
        <p:spPr>
          <a:xfrm>
            <a:off x="477980" y="5426867"/>
            <a:ext cx="4023359" cy="7505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b="1" dirty="0"/>
              <a:t>Tentativa 1 (</a:t>
            </a:r>
            <a:r>
              <a:rPr lang="pt-BR" sz="1600" b="1" dirty="0" err="1"/>
              <a:t>Quantity</a:t>
            </a:r>
            <a:r>
              <a:rPr lang="pt-BR" sz="1600" b="1" dirty="0"/>
              <a:t> Bruta):</a:t>
            </a:r>
            <a:r>
              <a:rPr lang="pt-BR" sz="1600" dirty="0"/>
              <a:t> O RMSE atingiu um valor inutilizável.</a:t>
            </a:r>
            <a:endParaRPr lang="de-DE" sz="1600" dirty="0"/>
          </a:p>
        </p:txBody>
      </p:sp>
      <p:pic>
        <p:nvPicPr>
          <p:cNvPr id="15" name="Imagem 14" descr="Texto&#10;&#10;O conteúdo gerado por IA pode estar incorreto.">
            <a:extLst>
              <a:ext uri="{FF2B5EF4-FFF2-40B4-BE49-F238E27FC236}">
                <a16:creationId xmlns:a16="http://schemas.microsoft.com/office/drawing/2014/main" id="{9E0BF462-854F-0E6B-765B-94D0A696C1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049" y="4234378"/>
            <a:ext cx="5363210" cy="2219325"/>
          </a:xfrm>
          <a:prstGeom prst="rect">
            <a:avLst/>
          </a:prstGeom>
        </p:spPr>
      </p:pic>
      <p:pic>
        <p:nvPicPr>
          <p:cNvPr id="16" name="Imagem 15" descr="Texto&#10;&#10;O conteúdo gerado por IA pode estar incorreto.">
            <a:extLst>
              <a:ext uri="{FF2B5EF4-FFF2-40B4-BE49-F238E27FC236}">
                <a16:creationId xmlns:a16="http://schemas.microsoft.com/office/drawing/2014/main" id="{95947F6E-E86A-4E7D-D299-0BF2F2DC5D8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9104"/>
          <a:stretch>
            <a:fillRect/>
          </a:stretch>
        </p:blipFill>
        <p:spPr bwMode="auto">
          <a:xfrm>
            <a:off x="6499913" y="454881"/>
            <a:ext cx="3494110" cy="35800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Áudio 21">
            <a:hlinkClick r:id="" action="ppaction://media"/>
            <a:extLst>
              <a:ext uri="{FF2B5EF4-FFF2-40B4-BE49-F238E27FC236}">
                <a16:creationId xmlns:a16="http://schemas.microsoft.com/office/drawing/2014/main" id="{2CB2B8A2-93B2-7C5F-F4FA-70D5CCA251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64605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800"/>
    </mc:Choice>
    <mc:Fallback>
      <p:transition spd="slow" advTm="508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4C34B-0BEA-0390-7EEB-E17C82BE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4">
            <a:extLst>
              <a:ext uri="{FF2B5EF4-FFF2-40B4-BE49-F238E27FC236}">
                <a16:creationId xmlns:a16="http://schemas.microsoft.com/office/drawing/2014/main" id="{A4D3BCAB-5C20-209A-D547-6D58E4BF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Tela de fundo abstrata triangular">
            <a:extLst>
              <a:ext uri="{FF2B5EF4-FFF2-40B4-BE49-F238E27FC236}">
                <a16:creationId xmlns:a16="http://schemas.microsoft.com/office/drawing/2014/main" id="{288A9A48-7F94-D31E-45F0-F500FF8A42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57" r="13270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3" name="Rectangle 26">
            <a:extLst>
              <a:ext uri="{FF2B5EF4-FFF2-40B4-BE49-F238E27FC236}">
                <a16:creationId xmlns:a16="http://schemas.microsoft.com/office/drawing/2014/main" id="{14753545-1BB8-583C-7DF3-F97A0C7B8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628548-0685-6F76-09D8-35C93EC89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79" y="777444"/>
            <a:ext cx="6021933" cy="645916"/>
          </a:xfrm>
        </p:spPr>
        <p:txBody>
          <a:bodyPr anchor="b">
            <a:noAutofit/>
          </a:bodyPr>
          <a:lstStyle/>
          <a:p>
            <a:r>
              <a:rPr lang="pt-BR" sz="2400" b="1" dirty="0"/>
              <a:t>A Solução de Engenharia de Features</a:t>
            </a:r>
            <a:endParaRPr lang="de-DE" sz="2400" b="1" dirty="0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EF468575-4741-65C8-DB3A-987533D70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A192FA-0A70-5961-7C10-748D315A2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41F39098-CCC1-0B52-6327-719872D496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388" y="388485"/>
            <a:ext cx="914400" cy="9144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D89EFB47-6CEF-159D-8E7E-0EBFA42E10A5}"/>
              </a:ext>
            </a:extLst>
          </p:cNvPr>
          <p:cNvSpPr txBox="1">
            <a:spLocks/>
          </p:cNvSpPr>
          <p:nvPr/>
        </p:nvSpPr>
        <p:spPr>
          <a:xfrm>
            <a:off x="790426" y="1607992"/>
            <a:ext cx="3289946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Ajuste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09ACB1A-8048-B320-88EF-03248926AC78}"/>
              </a:ext>
            </a:extLst>
          </p:cNvPr>
          <p:cNvSpPr txBox="1">
            <a:spLocks/>
          </p:cNvSpPr>
          <p:nvPr/>
        </p:nvSpPr>
        <p:spPr>
          <a:xfrm>
            <a:off x="512753" y="2253908"/>
            <a:ext cx="4023359" cy="957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dirty="0"/>
              <a:t>A solução metodológica foi parar de usar a </a:t>
            </a:r>
            <a:r>
              <a:rPr lang="pt-BR" sz="1400" i="1" dirty="0" err="1"/>
              <a:t>Quantity</a:t>
            </a:r>
            <a:r>
              <a:rPr lang="pt-BR" sz="1600" dirty="0"/>
              <a:t> bruta e aplicar a </a:t>
            </a:r>
            <a:r>
              <a:rPr lang="pt-BR" sz="1600" b="1" dirty="0"/>
              <a:t>Engenharia de Features</a:t>
            </a:r>
            <a:r>
              <a:rPr lang="pt-BR" sz="1600" dirty="0"/>
              <a:t>.</a:t>
            </a:r>
            <a:endParaRPr lang="de-DE" sz="16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69B4D58-8405-7B4D-4C23-706F01FA5C4C}"/>
              </a:ext>
            </a:extLst>
          </p:cNvPr>
          <p:cNvSpPr txBox="1">
            <a:spLocks/>
          </p:cNvSpPr>
          <p:nvPr/>
        </p:nvSpPr>
        <p:spPr>
          <a:xfrm>
            <a:off x="787502" y="3105295"/>
            <a:ext cx="4448731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Técnica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331B0D-AABD-A1EE-DF07-AC714C978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3759419"/>
            <a:ext cx="4023359" cy="853451"/>
          </a:xfrm>
          <a:solidFill>
            <a:srgbClr val="FFFFFF"/>
          </a:solidFill>
          <a:ln>
            <a:noFill/>
          </a:ln>
        </p:spPr>
        <p:txBody>
          <a:bodyPr>
            <a:normAutofit/>
          </a:bodyPr>
          <a:lstStyle/>
          <a:p>
            <a:pPr algn="just"/>
            <a:r>
              <a:rPr lang="pt-BR" sz="1600" dirty="0"/>
              <a:t>Foi usada a </a:t>
            </a:r>
            <a:r>
              <a:rPr lang="pt-BR" sz="1600" b="1" dirty="0"/>
              <a:t>Transformação Logarítmica </a:t>
            </a:r>
            <a:r>
              <a:rPr lang="pt-BR" sz="1600" dirty="0"/>
              <a:t>(</a:t>
            </a:r>
            <a:r>
              <a:rPr lang="pt-BR" sz="1600" i="1" dirty="0"/>
              <a:t>numpy.log1p</a:t>
            </a:r>
            <a:r>
              <a:rPr lang="pt-BR" sz="1600" dirty="0"/>
              <a:t>).</a:t>
            </a:r>
            <a:endParaRPr lang="de-DE" sz="1600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9AF36E3E-8E15-9A00-0F96-5788897A73A2}"/>
              </a:ext>
            </a:extLst>
          </p:cNvPr>
          <p:cNvSpPr txBox="1">
            <a:spLocks/>
          </p:cNvSpPr>
          <p:nvPr/>
        </p:nvSpPr>
        <p:spPr>
          <a:xfrm>
            <a:off x="787501" y="4397839"/>
            <a:ext cx="4448731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Efeito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E4FDC366-876C-9112-77C2-A07F095E546A}"/>
              </a:ext>
            </a:extLst>
          </p:cNvPr>
          <p:cNvSpPr txBox="1">
            <a:spLocks/>
          </p:cNvSpPr>
          <p:nvPr/>
        </p:nvSpPr>
        <p:spPr>
          <a:xfrm>
            <a:off x="477980" y="5061107"/>
            <a:ext cx="4023359" cy="7505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dirty="0"/>
              <a:t>A técnica estabilizou a variância e reduziu drasticamente o impacto dos </a:t>
            </a:r>
            <a:r>
              <a:rPr lang="pt-BR" sz="1600" i="1" dirty="0"/>
              <a:t>outliers</a:t>
            </a:r>
            <a:r>
              <a:rPr lang="pt-BR" sz="1600" dirty="0"/>
              <a:t>, criando um </a:t>
            </a:r>
            <a:r>
              <a:rPr lang="pt-BR" sz="1600" i="1" dirty="0"/>
              <a:t>rating</a:t>
            </a:r>
            <a:r>
              <a:rPr lang="pt-BR" sz="1600" dirty="0"/>
              <a:t> estável para o modelo aprender.</a:t>
            </a:r>
            <a:endParaRPr lang="de-DE" sz="1600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D6A1F19-726B-CA94-9909-A52524190FCD}"/>
              </a:ext>
            </a:extLst>
          </p:cNvPr>
          <p:cNvSpPr txBox="1">
            <a:spLocks/>
          </p:cNvSpPr>
          <p:nvPr/>
        </p:nvSpPr>
        <p:spPr>
          <a:xfrm>
            <a:off x="6409723" y="1607992"/>
            <a:ext cx="4448731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Resultado Otimizado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DCC620B-4531-994A-DA9A-F15938D039A7}"/>
              </a:ext>
            </a:extLst>
          </p:cNvPr>
          <p:cNvSpPr txBox="1">
            <a:spLocks/>
          </p:cNvSpPr>
          <p:nvPr/>
        </p:nvSpPr>
        <p:spPr>
          <a:xfrm>
            <a:off x="6100202" y="2271260"/>
            <a:ext cx="4023359" cy="7505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400" b="1" dirty="0"/>
              <a:t>Tentativa 2 (Rating Logarítmico): </a:t>
            </a:r>
            <a:r>
              <a:rPr lang="pt-BR" sz="1400" dirty="0"/>
              <a:t>O modelo se tornou preciso e estável.</a:t>
            </a:r>
            <a:endParaRPr lang="de-DE" sz="1400" dirty="0"/>
          </a:p>
        </p:txBody>
      </p:sp>
      <p:pic>
        <p:nvPicPr>
          <p:cNvPr id="17" name="Imagem 16" descr="Texto&#10;&#10;O conteúdo gerado por IA pode estar incorreto.">
            <a:extLst>
              <a:ext uri="{FF2B5EF4-FFF2-40B4-BE49-F238E27FC236}">
                <a16:creationId xmlns:a16="http://schemas.microsoft.com/office/drawing/2014/main" id="{29C77971-0046-FB79-803D-57C9CA66CB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3201" y="2803945"/>
            <a:ext cx="4041380" cy="3833704"/>
          </a:xfrm>
          <a:prstGeom prst="rect">
            <a:avLst/>
          </a:prstGeom>
        </p:spPr>
      </p:pic>
      <p:pic>
        <p:nvPicPr>
          <p:cNvPr id="30" name="Áudio 29">
            <a:hlinkClick r:id="" action="ppaction://media"/>
            <a:extLst>
              <a:ext uri="{FF2B5EF4-FFF2-40B4-BE49-F238E27FC236}">
                <a16:creationId xmlns:a16="http://schemas.microsoft.com/office/drawing/2014/main" id="{F759B3BF-2915-A1D1-E0A6-6C66773477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10076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992"/>
    </mc:Choice>
    <mc:Fallback>
      <p:transition spd="slow" advTm="319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88953-F211-D120-1B91-966337200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4">
            <a:extLst>
              <a:ext uri="{FF2B5EF4-FFF2-40B4-BE49-F238E27FC236}">
                <a16:creationId xmlns:a16="http://schemas.microsoft.com/office/drawing/2014/main" id="{64AB0953-2006-44CC-4C50-B99D3788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Tela de fundo abstrata triangular">
            <a:extLst>
              <a:ext uri="{FF2B5EF4-FFF2-40B4-BE49-F238E27FC236}">
                <a16:creationId xmlns:a16="http://schemas.microsoft.com/office/drawing/2014/main" id="{D579B38E-DA91-3A10-5262-24B428819C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57" r="13270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3" name="Rectangle 26">
            <a:extLst>
              <a:ext uri="{FF2B5EF4-FFF2-40B4-BE49-F238E27FC236}">
                <a16:creationId xmlns:a16="http://schemas.microsoft.com/office/drawing/2014/main" id="{E5C13BDB-48B0-E0F1-B758-AB8739FCD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2E15E4-54DC-B893-3D3D-B1B642BD3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79" y="777444"/>
            <a:ext cx="6021933" cy="645916"/>
          </a:xfrm>
        </p:spPr>
        <p:txBody>
          <a:bodyPr anchor="b">
            <a:noAutofit/>
          </a:bodyPr>
          <a:lstStyle/>
          <a:p>
            <a:r>
              <a:rPr lang="pt-BR" sz="2400" b="1" dirty="0"/>
              <a:t>Resultados Finais e Contribuição</a:t>
            </a:r>
            <a:endParaRPr lang="de-DE" sz="2400" b="1" dirty="0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0BEEB725-FDAD-1D0A-5E53-31CF14CD2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4386D7-F750-7392-D603-2A98D98FE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B7155558-E72D-98EB-C11A-9399884970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388" y="388485"/>
            <a:ext cx="914400" cy="9144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3D633E2A-98DA-49B7-E56B-1D9AFF4DCA2D}"/>
              </a:ext>
            </a:extLst>
          </p:cNvPr>
          <p:cNvSpPr txBox="1">
            <a:spLocks/>
          </p:cNvSpPr>
          <p:nvPr/>
        </p:nvSpPr>
        <p:spPr>
          <a:xfrm>
            <a:off x="790426" y="1607992"/>
            <a:ext cx="3289946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Desempenho Final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680190F-D483-4C81-FAFC-A1C9C76FE772}"/>
              </a:ext>
            </a:extLst>
          </p:cNvPr>
          <p:cNvSpPr txBox="1">
            <a:spLocks/>
          </p:cNvSpPr>
          <p:nvPr/>
        </p:nvSpPr>
        <p:spPr>
          <a:xfrm>
            <a:off x="512753" y="2253908"/>
            <a:ext cx="4023359" cy="49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b="1" dirty="0"/>
              <a:t>RMSE: 0.5185 </a:t>
            </a:r>
            <a:r>
              <a:rPr lang="pt-BR" sz="1600" dirty="0"/>
              <a:t>(na escala logarítmica)</a:t>
            </a:r>
            <a:endParaRPr lang="de-DE" sz="16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2854938-AD48-09EC-6814-D599E672EB65}"/>
              </a:ext>
            </a:extLst>
          </p:cNvPr>
          <p:cNvSpPr txBox="1">
            <a:spLocks/>
          </p:cNvSpPr>
          <p:nvPr/>
        </p:nvSpPr>
        <p:spPr>
          <a:xfrm>
            <a:off x="787502" y="2538367"/>
            <a:ext cx="4448731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Validação Prática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7DD3D7-3026-AE0C-3B6D-8239ECE3D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3174203"/>
            <a:ext cx="4023359" cy="1658112"/>
          </a:xfrm>
          <a:solidFill>
            <a:srgbClr val="FFFFFF"/>
          </a:solidFill>
          <a:ln>
            <a:noFill/>
          </a:ln>
        </p:spPr>
        <p:txBody>
          <a:bodyPr>
            <a:normAutofit/>
          </a:bodyPr>
          <a:lstStyle/>
          <a:p>
            <a:pPr algn="just"/>
            <a:r>
              <a:rPr lang="pt-BR" sz="1600" dirty="0"/>
              <a:t>A previsão do modelo foi revertida para a escala real: para um cliente e item específicos, a previsão de compra foi de </a:t>
            </a:r>
            <a:r>
              <a:rPr lang="pt-BR" sz="1600" b="1" dirty="0"/>
              <a:t>7 unidades</a:t>
            </a:r>
            <a:r>
              <a:rPr lang="pt-BR" sz="1600" dirty="0"/>
              <a:t>, um resultado realista e acionável.</a:t>
            </a:r>
            <a:endParaRPr lang="de-DE" sz="1600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5552DFC-8BCB-0B45-B04D-6CF72CCE196C}"/>
              </a:ext>
            </a:extLst>
          </p:cNvPr>
          <p:cNvSpPr txBox="1">
            <a:spLocks/>
          </p:cNvSpPr>
          <p:nvPr/>
        </p:nvSpPr>
        <p:spPr>
          <a:xfrm>
            <a:off x="787501" y="4480135"/>
            <a:ext cx="4448731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Conclusão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91203EC0-6D08-6CAE-D0C7-CD9138977E63}"/>
              </a:ext>
            </a:extLst>
          </p:cNvPr>
          <p:cNvSpPr txBox="1">
            <a:spLocks/>
          </p:cNvSpPr>
          <p:nvPr/>
        </p:nvSpPr>
        <p:spPr>
          <a:xfrm>
            <a:off x="477980" y="5143403"/>
            <a:ext cx="4023359" cy="7505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dirty="0"/>
              <a:t>O </a:t>
            </a:r>
            <a:r>
              <a:rPr lang="pt-BR" sz="1600" dirty="0" err="1"/>
              <a:t>SmartCart</a:t>
            </a:r>
            <a:r>
              <a:rPr lang="pt-BR" sz="1600" dirty="0"/>
              <a:t> valida a aplicação do SVD em dados de varejo após a correção de outliers via transformação logarítmica.</a:t>
            </a:r>
            <a:endParaRPr lang="de-DE" sz="1600" dirty="0"/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F17B9A9D-DBEF-7979-2954-231AF09E86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1474" y="3290027"/>
            <a:ext cx="5736114" cy="713232"/>
          </a:xfrm>
          <a:prstGeom prst="rect">
            <a:avLst/>
          </a:prstGeom>
        </p:spPr>
      </p:pic>
      <p:pic>
        <p:nvPicPr>
          <p:cNvPr id="29" name="Áudio 28">
            <a:hlinkClick r:id="" action="ppaction://media"/>
            <a:extLst>
              <a:ext uri="{FF2B5EF4-FFF2-40B4-BE49-F238E27FC236}">
                <a16:creationId xmlns:a16="http://schemas.microsoft.com/office/drawing/2014/main" id="{3CF12FCC-B0A9-A7CF-B7D7-E4C7597E19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72124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722"/>
    </mc:Choice>
    <mc:Fallback>
      <p:transition spd="slow" advTm="367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6FD494-2BA1-6769-6387-3F0CDA45A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4">
            <a:extLst>
              <a:ext uri="{FF2B5EF4-FFF2-40B4-BE49-F238E27FC236}">
                <a16:creationId xmlns:a16="http://schemas.microsoft.com/office/drawing/2014/main" id="{929118C4-FB61-38C0-4B1B-07AA7FC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Tela de fundo abstrata triangular">
            <a:extLst>
              <a:ext uri="{FF2B5EF4-FFF2-40B4-BE49-F238E27FC236}">
                <a16:creationId xmlns:a16="http://schemas.microsoft.com/office/drawing/2014/main" id="{C1ED6E12-2611-0E01-E091-2910388F22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57" r="13270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3" name="Rectangle 26">
            <a:extLst>
              <a:ext uri="{FF2B5EF4-FFF2-40B4-BE49-F238E27FC236}">
                <a16:creationId xmlns:a16="http://schemas.microsoft.com/office/drawing/2014/main" id="{8A175433-2AF5-4451-0810-1C8AFA269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C2E9EE-48D4-ED39-4D6E-CFB1AB75C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79" y="777444"/>
            <a:ext cx="6021933" cy="645916"/>
          </a:xfrm>
        </p:spPr>
        <p:txBody>
          <a:bodyPr anchor="b">
            <a:noAutofit/>
          </a:bodyPr>
          <a:lstStyle/>
          <a:p>
            <a:r>
              <a:rPr lang="pt-BR" sz="2400" b="1" dirty="0"/>
              <a:t>Trabalhos Futuros e Impacto</a:t>
            </a:r>
            <a:endParaRPr lang="de-DE" sz="2400" b="1" dirty="0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78DBF1F2-349F-56AD-C65F-FBEA1424A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C53B49-FD58-688A-BD6A-221A96CD4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3E66D87D-23B4-46AB-1E94-7FB998BCA1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388" y="388485"/>
            <a:ext cx="914400" cy="9144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018F21B-5054-8C5C-B176-5F237743CB9B}"/>
              </a:ext>
            </a:extLst>
          </p:cNvPr>
          <p:cNvSpPr txBox="1">
            <a:spLocks/>
          </p:cNvSpPr>
          <p:nvPr/>
        </p:nvSpPr>
        <p:spPr>
          <a:xfrm>
            <a:off x="790426" y="1607992"/>
            <a:ext cx="3289946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Impacto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B84E5FC-AFD4-0649-2DF8-E9112BC554B1}"/>
              </a:ext>
            </a:extLst>
          </p:cNvPr>
          <p:cNvSpPr txBox="1">
            <a:spLocks/>
          </p:cNvSpPr>
          <p:nvPr/>
        </p:nvSpPr>
        <p:spPr>
          <a:xfrm>
            <a:off x="512753" y="2253908"/>
            <a:ext cx="4023359" cy="8322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dirty="0"/>
              <a:t>O sistema é uma solução acessível para </a:t>
            </a:r>
            <a:r>
              <a:rPr lang="pt-BR" sz="1600" b="1" dirty="0" err="1"/>
              <a:t>PMEs</a:t>
            </a:r>
            <a:r>
              <a:rPr lang="pt-BR" sz="1600" dirty="0"/>
              <a:t> de varejo online que buscam personalização e aumento de receita.</a:t>
            </a:r>
            <a:endParaRPr lang="de-DE" sz="16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3B85DA2-7128-22D8-A614-5DD02CC879E2}"/>
              </a:ext>
            </a:extLst>
          </p:cNvPr>
          <p:cNvSpPr txBox="1">
            <a:spLocks/>
          </p:cNvSpPr>
          <p:nvPr/>
        </p:nvSpPr>
        <p:spPr>
          <a:xfrm>
            <a:off x="787502" y="3233311"/>
            <a:ext cx="4448731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Melhorias Técnicas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FC354D-B507-8885-8C48-5E40DFCDF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3869147"/>
            <a:ext cx="4023359" cy="933991"/>
          </a:xfrm>
          <a:solidFill>
            <a:srgbClr val="FFFFFF"/>
          </a:solidFill>
          <a:ln>
            <a:noFill/>
          </a:ln>
        </p:spPr>
        <p:txBody>
          <a:bodyPr>
            <a:normAutofit/>
          </a:bodyPr>
          <a:lstStyle/>
          <a:p>
            <a:pPr algn="just"/>
            <a:r>
              <a:rPr lang="pt-BR" sz="1600" dirty="0"/>
              <a:t>- Implementação do </a:t>
            </a:r>
            <a:r>
              <a:rPr lang="pt-BR" sz="1600" b="1" dirty="0"/>
              <a:t>SVD++ </a:t>
            </a:r>
            <a:r>
              <a:rPr lang="pt-BR" sz="1600" dirty="0"/>
              <a:t>ou Modelos Híbridos.</a:t>
            </a:r>
            <a:endParaRPr lang="de-DE" sz="1600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B7D8639-5250-40B8-3938-A551A940BAEE}"/>
              </a:ext>
            </a:extLst>
          </p:cNvPr>
          <p:cNvSpPr txBox="1">
            <a:spLocks/>
          </p:cNvSpPr>
          <p:nvPr/>
        </p:nvSpPr>
        <p:spPr>
          <a:xfrm>
            <a:off x="787501" y="4644727"/>
            <a:ext cx="4448731" cy="64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800" b="1" dirty="0"/>
              <a:t>Validação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5FA76272-0444-3AB2-84B1-958D1654800C}"/>
              </a:ext>
            </a:extLst>
          </p:cNvPr>
          <p:cNvSpPr txBox="1">
            <a:spLocks/>
          </p:cNvSpPr>
          <p:nvPr/>
        </p:nvSpPr>
        <p:spPr>
          <a:xfrm>
            <a:off x="477980" y="5307995"/>
            <a:ext cx="4023359" cy="7505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dirty="0"/>
              <a:t>- Avaliação com métricas de Ranking (</a:t>
            </a:r>
            <a:r>
              <a:rPr lang="pt-BR" sz="1600" b="1" dirty="0"/>
              <a:t>NDCG</a:t>
            </a:r>
            <a:r>
              <a:rPr lang="pt-BR" sz="1600" dirty="0"/>
              <a:t>) para melhorar a ordem das sugestões.</a:t>
            </a:r>
            <a:endParaRPr lang="de-DE" sz="1600" dirty="0"/>
          </a:p>
        </p:txBody>
      </p:sp>
      <p:pic>
        <p:nvPicPr>
          <p:cNvPr id="12" name="Gráfico 11" descr="Carregar com preenchimento sólido">
            <a:extLst>
              <a:ext uri="{FF2B5EF4-FFF2-40B4-BE49-F238E27FC236}">
                <a16:creationId xmlns:a16="http://schemas.microsoft.com/office/drawing/2014/main" id="{D678EC1F-E6D4-4775-0209-3F6EFF2D3F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0662" y="2819270"/>
            <a:ext cx="1473998" cy="1473998"/>
          </a:xfrm>
          <a:prstGeom prst="rect">
            <a:avLst/>
          </a:prstGeom>
        </p:spPr>
      </p:pic>
      <p:pic>
        <p:nvPicPr>
          <p:cNvPr id="17" name="Áudio 16">
            <a:hlinkClick r:id="" action="ppaction://media"/>
            <a:extLst>
              <a:ext uri="{FF2B5EF4-FFF2-40B4-BE49-F238E27FC236}">
                <a16:creationId xmlns:a16="http://schemas.microsoft.com/office/drawing/2014/main" id="{063A1388-26C7-AB53-D0B1-A8EEAB558B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28248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582"/>
    </mc:Choice>
    <mc:Fallback>
      <p:transition spd="slow" advTm="405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Tela de fundo abstrata triangular">
            <a:extLst>
              <a:ext uri="{FF2B5EF4-FFF2-40B4-BE49-F238E27FC236}">
                <a16:creationId xmlns:a16="http://schemas.microsoft.com/office/drawing/2014/main" id="{DE3C1519-B18E-D4E5-A3F1-2BB21EA509D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57" r="13270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3" name="Rectangle 2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7980" y="777444"/>
            <a:ext cx="7078760" cy="645916"/>
          </a:xfrm>
        </p:spPr>
        <p:txBody>
          <a:bodyPr anchor="b">
            <a:noAutofit/>
          </a:bodyPr>
          <a:lstStyle/>
          <a:p>
            <a:r>
              <a:rPr lang="pt-BR" sz="2400" b="1" dirty="0"/>
              <a:t>Projeto </a:t>
            </a:r>
            <a:r>
              <a:rPr lang="pt-BR" sz="2400" b="1" dirty="0" err="1"/>
              <a:t>SmartCart</a:t>
            </a:r>
            <a:endParaRPr lang="de-DE" sz="2400" b="1" dirty="0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5E70D884-DA8C-0B32-7559-CC15CC48CC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388" y="388485"/>
            <a:ext cx="914400" cy="9144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A40B1FE5-5D9F-1E91-EADA-66E6EAC60A2C}"/>
              </a:ext>
            </a:extLst>
          </p:cNvPr>
          <p:cNvSpPr txBox="1">
            <a:spLocks/>
          </p:cNvSpPr>
          <p:nvPr/>
        </p:nvSpPr>
        <p:spPr>
          <a:xfrm>
            <a:off x="477980" y="1846642"/>
            <a:ext cx="8027665" cy="974251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Link para o projeto no GitHub:</a:t>
            </a:r>
            <a:br>
              <a:rPr lang="pt-BR" sz="1600" dirty="0"/>
            </a:br>
            <a:r>
              <a:rPr lang="pt-BR" sz="1600" dirty="0">
                <a:hlinkClick r:id="rId7"/>
              </a:rPr>
              <a:t>https://github.com/maikisoares00/Projeto_Aplicado_III_RetailWise/</a:t>
            </a:r>
            <a:endParaRPr lang="pt-BR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1C8309-2158-9284-F41B-3A56DDED18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2617" y="2783015"/>
            <a:ext cx="6288506" cy="3527810"/>
          </a:xfrm>
          <a:prstGeom prst="rect">
            <a:avLst/>
          </a:prstGeom>
        </p:spPr>
      </p:pic>
      <p:pic>
        <p:nvPicPr>
          <p:cNvPr id="14" name="Áudio 13">
            <a:hlinkClick r:id="" action="ppaction://media"/>
            <a:extLst>
              <a:ext uri="{FF2B5EF4-FFF2-40B4-BE49-F238E27FC236}">
                <a16:creationId xmlns:a16="http://schemas.microsoft.com/office/drawing/2014/main" id="{D7C2C9CA-B97D-6742-3378-D26E8F2E86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3211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56"/>
    </mc:Choice>
    <mc:Fallback>
      <p:transition spd="slow" advTm="51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AccentBoxVTI">
  <a:themeElements>
    <a:clrScheme name="AnalogousFromRegularSeed_2SEEDS">
      <a:dk1>
        <a:srgbClr val="000000"/>
      </a:dk1>
      <a:lt1>
        <a:srgbClr val="FFFFFF"/>
      </a:lt1>
      <a:dk2>
        <a:srgbClr val="3D2229"/>
      </a:dk2>
      <a:lt2>
        <a:srgbClr val="E2E5E8"/>
      </a:lt2>
      <a:accent1>
        <a:srgbClr val="D56A17"/>
      </a:accent1>
      <a:accent2>
        <a:srgbClr val="E72D29"/>
      </a:accent2>
      <a:accent3>
        <a:srgbClr val="B8A221"/>
      </a:accent3>
      <a:accent4>
        <a:srgbClr val="14B4A3"/>
      </a:accent4>
      <a:accent5>
        <a:srgbClr val="29ADE7"/>
      </a:accent5>
      <a:accent6>
        <a:srgbClr val="174CD5"/>
      </a:accent6>
      <a:hlink>
        <a:srgbClr val="3F87BF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804</Words>
  <Application>Microsoft Office PowerPoint</Application>
  <PresentationFormat>Widescreen</PresentationFormat>
  <Paragraphs>60</Paragraphs>
  <Slides>7</Slides>
  <Notes>7</Notes>
  <HiddenSlides>0</HiddenSlides>
  <MMClips>7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Arial</vt:lpstr>
      <vt:lpstr>Avenir Next LT Pro</vt:lpstr>
      <vt:lpstr>Calibri</vt:lpstr>
      <vt:lpstr>Wingdings</vt:lpstr>
      <vt:lpstr>AccentBoxVTI</vt:lpstr>
      <vt:lpstr>Projeto SmartCart</vt:lpstr>
      <vt:lpstr>O Problema e o Objetivo</vt:lpstr>
      <vt:lpstr>A Metodologia e a Crise dos Dados</vt:lpstr>
      <vt:lpstr>A Solução de Engenharia de Features</vt:lpstr>
      <vt:lpstr>Resultados Finais e Contribuição</vt:lpstr>
      <vt:lpstr>Trabalhos Futuros e Impacto</vt:lpstr>
      <vt:lpstr>Projeto SmartCart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Vanessa Cordeiro</dc:creator>
  <cp:lastModifiedBy>VANESSA CORDEIRO GONCALVES DE OLIVEIRA</cp:lastModifiedBy>
  <cp:revision>4</cp:revision>
  <dcterms:created xsi:type="dcterms:W3CDTF">2024-05-19T22:15:33Z</dcterms:created>
  <dcterms:modified xsi:type="dcterms:W3CDTF">2025-11-16T22:54:11Z</dcterms:modified>
</cp:coreProperties>
</file>